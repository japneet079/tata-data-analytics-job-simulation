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8"/>
      <p:bold r:id="rId9"/>
      <p:italic r:id="rId10"/>
      <p:boldItalic r:id="rId11"/>
    </p:embeddedFont>
    <p:embeddedFont>
      <p:font typeface="Roboto Slab" panose="020F0502020204030204" pitchFamily="2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82" autoAdjust="0"/>
    <p:restoredTop sz="81408"/>
  </p:normalViewPr>
  <p:slideViewPr>
    <p:cSldViewPr snapToGrid="0">
      <p:cViewPr varScale="1">
        <p:scale>
          <a:sx n="119" d="100"/>
          <a:sy n="119" d="100"/>
        </p:scale>
        <p:origin x="1560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Inputs</a:t>
            </a:r>
            <a:r>
              <a:rPr lang="en-GB" sz="1600" dirty="0"/>
              <a:t>: </a:t>
            </a:r>
            <a:r>
              <a:rPr lang="en-US" sz="1600" dirty="0"/>
              <a:t>The model ingests real-time customer data, including </a:t>
            </a:r>
            <a:r>
              <a:rPr lang="en-US" sz="1600" b="1" dirty="0"/>
              <a:t>repayment history</a:t>
            </a:r>
            <a:r>
              <a:rPr lang="en-US" sz="1600" dirty="0"/>
              <a:t>, </a:t>
            </a:r>
            <a:r>
              <a:rPr lang="en-US" sz="1600" b="1" dirty="0"/>
              <a:t>credit utilization spikes</a:t>
            </a:r>
            <a:r>
              <a:rPr lang="en-US" sz="1600" dirty="0"/>
              <a:t>, and </a:t>
            </a:r>
            <a:r>
              <a:rPr lang="en-US" sz="1600" b="1" dirty="0"/>
              <a:t>debt-to-income ratios</a:t>
            </a:r>
            <a:r>
              <a:rPr lang="en-US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Decision Logic</a:t>
            </a:r>
            <a:r>
              <a:rPr lang="en-GB" sz="1600" dirty="0"/>
              <a:t>: </a:t>
            </a:r>
            <a:r>
              <a:rPr lang="en-US" sz="1600" dirty="0"/>
              <a:t>We use a hybrid approach. The </a:t>
            </a:r>
            <a:r>
              <a:rPr lang="en-US" sz="1600" b="1" dirty="0"/>
              <a:t>Random Forest model</a:t>
            </a:r>
            <a:r>
              <a:rPr lang="en-US" sz="1600" dirty="0"/>
              <a:t> provides risk predictions (probability of delinquency), while specific </a:t>
            </a:r>
            <a:r>
              <a:rPr lang="en-US" sz="1600" b="1" dirty="0"/>
              <a:t>business rules</a:t>
            </a:r>
            <a:r>
              <a:rPr lang="en-US" sz="1600" dirty="0"/>
              <a:t> determine the outreach path (e.g., if risk &gt; 0.7, trigger alert).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Actions</a:t>
            </a:r>
            <a:r>
              <a:rPr lang="en-GB" sz="1600" dirty="0"/>
              <a:t>: </a:t>
            </a:r>
            <a:r>
              <a:rPr lang="en-US" sz="1600" dirty="0"/>
              <a:t>High-risk flags trigger proactive interventions like automated </a:t>
            </a:r>
            <a:r>
              <a:rPr lang="en-US" sz="1600" b="1" dirty="0"/>
              <a:t>SMS reminders</a:t>
            </a:r>
            <a:r>
              <a:rPr lang="en-US" sz="1600" dirty="0"/>
              <a:t>, </a:t>
            </a:r>
            <a:r>
              <a:rPr lang="en-US" sz="1600" b="1" dirty="0"/>
              <a:t>email alerts</a:t>
            </a:r>
            <a:r>
              <a:rPr lang="en-US" sz="1600" dirty="0"/>
              <a:t>, or a personalized </a:t>
            </a:r>
            <a:r>
              <a:rPr lang="en-US" sz="1600" b="1" dirty="0"/>
              <a:t>hardship offer</a:t>
            </a:r>
            <a:r>
              <a:rPr lang="en-US" sz="1600" dirty="0"/>
              <a:t> pilot.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Learning</a:t>
            </a:r>
            <a:r>
              <a:rPr lang="en-GB" sz="1600" dirty="0"/>
              <a:t>: </a:t>
            </a:r>
            <a:r>
              <a:rPr lang="en-US" sz="1600" dirty="0"/>
              <a:t>We implement a </a:t>
            </a:r>
            <a:r>
              <a:rPr lang="en-US" sz="1600" b="1" dirty="0"/>
              <a:t>feedback loop</a:t>
            </a:r>
            <a:r>
              <a:rPr lang="en-US" sz="1600" dirty="0"/>
              <a:t> where the system tracks whether an intervention led to a payment and retrains the model monthly to improve its future precision.</a:t>
            </a:r>
            <a:endParaRPr lang="en-GB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/>
              <a:t>Autonomous Operations</a:t>
            </a:r>
            <a:r>
              <a:rPr lang="en-US" dirty="0"/>
              <a:t>: The system handles </a:t>
            </a:r>
            <a:r>
              <a:rPr lang="en-US" b="1" dirty="0"/>
              <a:t>fully automated decisions</a:t>
            </a:r>
            <a:r>
              <a:rPr lang="en-US" dirty="0"/>
              <a:t> for low-impact tasks, such as sending 48-hour payment reminders or initial risk-scoring across the entire portfolio.</a:t>
            </a:r>
          </a:p>
          <a:p>
            <a:r>
              <a:rPr lang="en-US" b="1" dirty="0"/>
              <a:t>Human Oversight</a:t>
            </a:r>
            <a:r>
              <a:rPr lang="en-US" dirty="0"/>
              <a:t>: High-impact actions, such as offering a </a:t>
            </a:r>
            <a:r>
              <a:rPr lang="en-US" b="1" dirty="0"/>
              <a:t>personalized hardship plan</a:t>
            </a:r>
            <a:r>
              <a:rPr lang="en-US" dirty="0"/>
              <a:t> or starting legal recovery steps, require a manual review by a collections agent.</a:t>
            </a:r>
          </a:p>
          <a:p>
            <a:r>
              <a:rPr lang="en-US" b="1" dirty="0"/>
              <a:t>Efficiency</a:t>
            </a:r>
            <a:r>
              <a:rPr lang="en-US" dirty="0"/>
              <a:t>: This allows </a:t>
            </a:r>
            <a:r>
              <a:rPr lang="en-US" dirty="0" err="1"/>
              <a:t>Geldium</a:t>
            </a:r>
            <a:r>
              <a:rPr lang="en-US" dirty="0"/>
              <a:t> to scale its operations, focusing human expertise on complex cases while AI handles the routine volume.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/>
              <a:t>Fairness Checks</a:t>
            </a:r>
            <a:r>
              <a:rPr lang="en-US" sz="1600" dirty="0"/>
              <a:t>: We will perform regular </a:t>
            </a:r>
            <a:r>
              <a:rPr lang="en-US" sz="1600" b="1" dirty="0"/>
              <a:t>Bias Audits</a:t>
            </a:r>
            <a:r>
              <a:rPr lang="en-US" sz="1600" dirty="0"/>
              <a:t> to ensure the model does not unfairly penalize customers based on age or location.</a:t>
            </a:r>
          </a:p>
          <a:p>
            <a:r>
              <a:rPr lang="en-US" sz="1600" b="1" dirty="0"/>
              <a:t>Explainability</a:t>
            </a:r>
            <a:r>
              <a:rPr lang="en-US" sz="1600" dirty="0"/>
              <a:t>: The model will provide "Feature Importance" scores so agents can explain exactly why a customer was flagged (e.g., "Your credit utilization increased by 20%").</a:t>
            </a:r>
          </a:p>
          <a:p>
            <a:r>
              <a:rPr lang="en-US" sz="1600" b="1" dirty="0"/>
              <a:t>Compliance</a:t>
            </a:r>
            <a:r>
              <a:rPr lang="en-US" sz="1600" dirty="0"/>
              <a:t>: The system is designed to comply with </a:t>
            </a:r>
            <a:r>
              <a:rPr lang="en-US" sz="1600" b="1" dirty="0"/>
              <a:t>regulatory standards</a:t>
            </a:r>
            <a:r>
              <a:rPr lang="en-US" sz="1600" dirty="0"/>
              <a:t> like the GDPR and local financial laws by maintaining strict data privacy and the customer's right to an explanation.</a:t>
            </a:r>
          </a:p>
          <a:p>
            <a:r>
              <a:rPr lang="en-US" sz="1600" b="1" dirty="0"/>
              <a:t>Human-in-the-loop</a:t>
            </a:r>
            <a:r>
              <a:rPr lang="en-US" sz="1600" dirty="0"/>
              <a:t>: We maintain a strict policy where the AI only "recommends" critical actions, leaving the final decision-making power to human specialists.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/>
              <a:t>Quantitative Outcomes</a:t>
            </a:r>
            <a:r>
              <a:rPr lang="en-US" sz="1600" dirty="0"/>
              <a:t>:</a:t>
            </a:r>
          </a:p>
          <a:p>
            <a:r>
              <a:rPr lang="en-US" sz="1600" dirty="0"/>
              <a:t>Target a </a:t>
            </a:r>
            <a:r>
              <a:rPr lang="en-US" sz="1600" b="1" dirty="0"/>
              <a:t>10% reduction</a:t>
            </a:r>
            <a:r>
              <a:rPr lang="en-US" sz="1600" dirty="0"/>
              <a:t> in 30-day delinquency rates.</a:t>
            </a:r>
          </a:p>
          <a:p>
            <a:r>
              <a:rPr lang="en-US" sz="1600" dirty="0"/>
              <a:t>Significant </a:t>
            </a:r>
            <a:r>
              <a:rPr lang="en-US" sz="1600" b="1" dirty="0"/>
              <a:t>cost savings</a:t>
            </a:r>
            <a:r>
              <a:rPr lang="en-US" sz="1600" dirty="0"/>
              <a:t> by automating routine outreach and prioritizing collections staff on high-value accounts.</a:t>
            </a:r>
          </a:p>
          <a:p>
            <a:pPr marL="114300" indent="0">
              <a:buNone/>
            </a:pPr>
            <a:endParaRPr lang="en-US" sz="1600" dirty="0"/>
          </a:p>
          <a:p>
            <a:r>
              <a:rPr lang="en-US" sz="1600" b="1" dirty="0"/>
              <a:t>Qualitative Outcomes</a:t>
            </a:r>
            <a:r>
              <a:rPr lang="en-US" sz="1600" dirty="0"/>
              <a:t>:</a:t>
            </a:r>
          </a:p>
          <a:p>
            <a:r>
              <a:rPr lang="en-US" sz="1600" b="1" dirty="0"/>
              <a:t>Improved Customer Trust</a:t>
            </a:r>
            <a:r>
              <a:rPr lang="en-US" sz="1600" dirty="0"/>
              <a:t>: By offering support before a default happens, we build a supportive relationship rather than a reactive one.</a:t>
            </a:r>
          </a:p>
          <a:p>
            <a:r>
              <a:rPr lang="en-US" sz="1600" b="1" dirty="0"/>
              <a:t>Enhanced Fairness</a:t>
            </a:r>
            <a:r>
              <a:rPr lang="en-US" sz="1600" dirty="0"/>
              <a:t>: Data-driven decisions ensure that support is distributed based on objective risk factors rather than subjective judgment.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635</Words>
  <Application>Microsoft Office PowerPoint</Application>
  <PresentationFormat>On-screen Show (16:9)</PresentationFormat>
  <Paragraphs>38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Japneet</dc:creator>
  <cp:lastModifiedBy>Japneet Singh</cp:lastModifiedBy>
  <cp:revision>3</cp:revision>
  <dcterms:modified xsi:type="dcterms:W3CDTF">2026-05-09T11:26:11Z</dcterms:modified>
</cp:coreProperties>
</file>